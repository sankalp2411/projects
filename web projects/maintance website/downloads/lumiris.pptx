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06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mailto:founder@reearthtech.in" TargetMode="External"/><Relationship Id="rId4" Type="http://schemas.openxmlformats.org/officeDocument/2006/relationships/hyperlink" Target="mailto:|founder@reearthtech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920240" y="141255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LUMIRIS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920240" y="209931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4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 SOLAR WINDOW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920240" y="2600491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920240" y="2554605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Every Window into a UV Solar Power Plant.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892" y="203454"/>
            <a:ext cx="3819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REEARTHTECH INNOVATIONS PVT. LTD.</a:t>
            </a:r>
          </a:p>
        </p:txBody>
      </p:sp>
      <p:pic>
        <p:nvPicPr>
          <p:cNvPr id="11" name="Picture 10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33A072BF-DD15-B63F-EFA1-EB1766A91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26805"/>
            <a:ext cx="590972" cy="629099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42E99E0C-E1CB-AD19-9D53-12C6B1DA2F8F}"/>
              </a:ext>
            </a:extLst>
          </p:cNvPr>
          <p:cNvSpPr/>
          <p:nvPr/>
        </p:nvSpPr>
        <p:spPr>
          <a:xfrm>
            <a:off x="4720493" y="3892223"/>
            <a:ext cx="4423507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MENTOR- </a:t>
            </a:r>
            <a:r>
              <a:rPr lang="en-US" sz="900" b="1" i="1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DR.PROF.RAJESH M. BODADE</a:t>
            </a: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( SENIOR PROFFESOR)</a:t>
            </a:r>
            <a:br>
              <a:rPr lang="en-US" sz="900" i="1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900" i="1" u="sng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MILITARY COLLEGE OF TELECOMMUNICATION ENGINEERING , </a:t>
            </a:r>
            <a:r>
              <a:rPr lang="en-US" sz="900" i="1" u="sng" dirty="0" err="1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MHoW</a:t>
            </a:r>
            <a:br>
              <a:rPr lang="en-US" sz="900" i="1" u="sng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</a:br>
            <a:br>
              <a:rPr lang="en-US" sz="900" i="1" u="sng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Presented by- KAUSTUBH R. BODADE(FOUNDER)(EIR-IIT INODRE DRISHTI CPS FOUNDATION)</a:t>
            </a:r>
            <a:br>
              <a:rPr lang="en-US" sz="900" i="1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sz="900" i="1" u="sng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REEARTHTECH INNOVATIONS PVT. LTD.</a:t>
            </a:r>
            <a:endParaRPr lang="en-US" sz="900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ACHIEVED SO FAR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zero-to-one: building the intellectual and technical foundation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1645920"/>
          </a:xfrm>
          <a:prstGeom prst="rect">
            <a:avLst/>
          </a:prstGeom>
          <a:solidFill>
            <a:srgbClr val="0B142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Deep-Dive Research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exhaustive research on Luminescent Solar Concentrator (LSC) — absorption, down-conversion, waveguiding, TIR mechanics.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1234440"/>
            <a:ext cx="2606040" cy="1645920"/>
          </a:xfrm>
          <a:prstGeom prst="rect">
            <a:avLst/>
          </a:prstGeom>
          <a:solidFill>
            <a:srgbClr val="0B142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716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Equipment Plan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7472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every single machine, brand, model with Indian pricing — 100+ items across many categories.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06040" cy="1645920"/>
          </a:xfrm>
          <a:prstGeom prst="rect">
            <a:avLst/>
          </a:prstGeom>
          <a:solidFill>
            <a:srgbClr val="0B142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3716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1344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R&amp;D Plan Ready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6364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with 3-phase timeline, budget breakdown, and raw material specs.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" y="3063240"/>
            <a:ext cx="2606040" cy="1645920"/>
          </a:xfrm>
          <a:prstGeom prst="rect">
            <a:avLst/>
          </a:prstGeom>
          <a:solidFill>
            <a:srgbClr val="0B142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004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IP Identified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85800" y="3611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Pinpointed 3 breakthrough areas: efficiency-transparency trade-off, dual-dye tandem systems, and Aurora Borealis waveguiding.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337560" y="3063240"/>
            <a:ext cx="2606040" cy="1645920"/>
          </a:xfrm>
          <a:prstGeom prst="rect">
            <a:avLst/>
          </a:prstGeom>
          <a:solidFill>
            <a:srgbClr val="0B142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0040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Science Mapped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474720" y="3611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exact luminophores with &gt;95% quantum yield targets.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26480" y="3063240"/>
            <a:ext cx="2606040" cy="1645920"/>
          </a:xfrm>
          <a:prstGeom prst="rect">
            <a:avLst/>
          </a:prstGeom>
          <a:solidFill>
            <a:srgbClr val="0B1426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004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Validated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263640" y="36118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 BIPV market by 2032; India's 3 billion m² glass facades = 50-100 GW untapped capacity.</a:t>
            </a:r>
            <a:endParaRPr lang="en-US" sz="900" dirty="0"/>
          </a:p>
        </p:txBody>
      </p:sp>
      <p:pic>
        <p:nvPicPr>
          <p:cNvPr id="29" name="Picture 28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FFBC913E-3846-F78D-AD62-8558D88941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9883" y="96931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WANT TO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R&amp;D roadmap: from lab prototype to commercial-ready product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PROVE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9748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LSC waveguide samples.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&gt;80% quantum yield.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UV absorption + edge emission.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697480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280160"/>
            <a:ext cx="26974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37560" y="12801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37560" y="14813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BUILD 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1783080"/>
            <a:ext cx="269748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187452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10×10 cm to 30×30 cm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edge PV cells + electronics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complete window prototype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MPPT + battery system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697480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17920" y="12801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7–12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217920" y="14813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VALIDATE IT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1783080"/>
            <a:ext cx="2697480" cy="2560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355080" y="187452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under AM1.5G solar simulator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PCE data (target &gt;5%)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demo on real building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patent filing</a:t>
            </a:r>
            <a:endParaRPr lang="en-US" sz="1050" dirty="0"/>
          </a:p>
          <a:p>
            <a:pPr marL="171450" indent="-1714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BIPV manufacturers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ENDGAME: First commercially viable transparent UV solar window — generating electricity from every glass surface</a:t>
            </a:r>
            <a:endParaRPr lang="en-US" sz="1000" dirty="0"/>
          </a:p>
        </p:txBody>
      </p:sp>
      <p:pic>
        <p:nvPicPr>
          <p:cNvPr id="24" name="Picture 23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021A14EF-9E06-057D-79C4-2DAE490A6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754" y="96931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PATHBREAKING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science, unprecedented application — 5 USPs that make Lumiris unstoppable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24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80160" y="1124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Dual-Function Glass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399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window panel simultaneously generates solar electricity AND blocks &gt;95% harmful UV radiation. No existing product does both.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8× More Solar Area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all building facades (walls + windows), not just rooftops. A 30-storey building gains 12,000 m² vs 1,500 m² rooftop.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42616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8016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in Diffuse Light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898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conventional Si panels that need direct sun, LSC performs exceptionally in cloudy, overcast, and indoor conditions — ideal for Indian monsoons.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9242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3741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80160" y="3374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Drop-In Replacement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36484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standard window glass with zero architectural redesign. Same thickness, same fitting, same aesthetics — but now it generates power.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42232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123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80160" y="4123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&gt;60% Transparency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3982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opaque panels, Lumiris windows let daylight in. People see through them. Buildings stay beautiful. Architects love it.</a:t>
            </a:r>
            <a:endParaRPr lang="en-US" sz="1000" dirty="0"/>
          </a:p>
        </p:txBody>
      </p:sp>
      <p:pic>
        <p:nvPicPr>
          <p:cNvPr id="25" name="Picture 24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4D9CAAE3-84EA-4D1F-097D-9E206815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754" y="91440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INDIA BECOMES THE LEADER — NOT A FOLLOWER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missed the semiconductor revolution. India missed the EV battery revolution. India MUST NOT miss the UV transparent solar revolution.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32004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INDIA IS POSITIONED TO WIN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billion m² commercial glass facades — largest untapped BIPV surface area globally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756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Solar Mission + Smart Cities Mission provide massive pull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4597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ECBC compliance mandatory — Lumiris solves it inherently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843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scheme for solar manufacturing — transparent solar qualifies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2278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CSIR/IIT labs with optical + materials expertise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611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of R&amp;D among all G20 nations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995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can manufacture at 60-70% lower cost than EU/US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280160"/>
            <a:ext cx="3977640" cy="32004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GLOBAL RACE (WE'RE BEHIND)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92040" y="1691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🇺🇸 USA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1691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UbiQD, MIT — $40M+ funded, pilot installations in airports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892040" y="2103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🇳🇱 Netherlands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8932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Eindhoven — world's first LSC noise barrier on highway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514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🇮🇹 Italy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2514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to Power — raised €3.6M, targets EU commercial buildings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26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🇨🇳 China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8932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university labs + state-backed manufacturing R&amp;D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337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🇬🇧 UK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89320" y="3337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PV + Cambridge — perovskite + LSC hybrid research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92040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🇮🇳 INDIA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8932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commercial LSC activity. Zero startups. Zero patents.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4645152"/>
            <a:ext cx="8229600" cy="41148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If India starts NOW, we leapfrog everyone. If we wait 3 years, we become a buyer — not a builder.</a:t>
            </a:r>
            <a:endParaRPr lang="en-US" sz="1100" dirty="0"/>
          </a:p>
        </p:txBody>
      </p:sp>
      <p:pic>
        <p:nvPicPr>
          <p:cNvPr id="31" name="Picture 30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D3ACAD31-97E3-9F53-0ED9-2B52DDC44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754" y="118872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194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THE GOVERNMENT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charity — strategic investment in India's energy sovereignty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05940" y="11763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R&amp;D Grant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4813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DST-SERB, BIRAC, or MNRE startup scheme — to set up lab, hire  research engineers, and build first prototype.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00600" y="109728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8348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Access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Incubation &amp; Infrastructure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148132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IIT/CSIR characterisation labs (UV-Vis, solar simulator, PLQY) through NRDC or TBI incubation at zero cost.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237744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Support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00200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Fast-Track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276148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 (Startups Intellectual Property Protection) scheme — fast-track patent filing and prosecution for LSC window technology.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00600" y="237744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00600" y="2377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83480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Pull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Govt Building Pilot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983480" y="276148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Lumiris prototype in one Smart City project / govt building as real-world demonstration — provides validation + data.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365760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Mandate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60020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ECBC Integration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0416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to recognise transparent solar windows as ECBC-compliant envelope solution — creates instant market demand.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00600" y="3657600"/>
            <a:ext cx="4069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00600" y="36576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983480" y="373356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Scale-Up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PLI Inclusion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983480" y="40416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transparent BIPV under PLI for solar manufacturing — unlocks Giga-scale production incentives.</a:t>
            </a:r>
            <a:endParaRPr lang="en-US" sz="950" dirty="0"/>
          </a:p>
        </p:txBody>
      </p:sp>
      <p:pic>
        <p:nvPicPr>
          <p:cNvPr id="36" name="Picture 35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DC327ABC-D5AB-5A40-3894-8CF461B35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42" y="126200"/>
            <a:ext cx="590972" cy="629099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A2030FA4-6250-F5D8-A52C-8DC721EB7094}"/>
              </a:ext>
            </a:extLst>
          </p:cNvPr>
          <p:cNvSpPr/>
          <p:nvPr/>
        </p:nvSpPr>
        <p:spPr>
          <a:xfrm>
            <a:off x="640080" y="1170432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Support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/ REWARD FOR GOVERNMENT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risk, asymmetric upside — SEED investment from govt. for R&amp;D&amp;E can unlock a ₹10,000 Cr+ industry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C19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(WHAT CAN GO WRONG)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</a:t>
            </a: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SUPPORT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0.00001% of MNRE annual budget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— clear milestones with go/no-go gates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Risk: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all patents stay Indian-owned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small seed grant, not a public scheme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(IF IT WORKS)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GW potential from India's building glass alone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671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Cr+ domestic BIPV manufacturing industry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6426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 manufacturing &amp; installation jobs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118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MT CO₂ reduction potential per year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593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export of Made-in-India UV transparent solar tech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069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leads world in a sunrise sector — not following</a:t>
            </a:r>
            <a:endParaRPr lang="en-US" sz="1000" dirty="0"/>
          </a:p>
        </p:txBody>
      </p:sp>
      <p:pic>
        <p:nvPicPr>
          <p:cNvPr id="24" name="Picture 23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538A2243-CF96-A041-8886-2998C3D93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754" y="142650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GOVERNMENT DOESN'T SUPPORT US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die. We leave. And India loses.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3B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ALTERNATIVE OPTIONS (ALREADY BEING EXPLORED)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2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🇺🇸 USA — NSF / DOE Grants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1965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Science Foundation SBIR/STTR grants ($250K–$1.5M). DOE ARPA-E funds breakthrough energy tech. Y Combinator + venture path. US will fund us gladly.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2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🇪🇺 EU — Horizon Europe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€2-5M grants for BIPV innovation. Netherlands already built the world's first LSC highway noise barrier. EU actively recruiting this tech.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solidFill>
            <a:srgbClr val="2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🇬🇧 UK — Innovate UK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Catapult Energy Systems + Cambridge Judge Business School accelerator. UK is desperate for net-zero building solutions.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2D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3904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🇸🇬 Singapore / 🇦🇪 UAE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4160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Masdar City (Abu Dhabi) and Singapore Green Building Council actively funding transparent solar for glass-heavy tropical buildings.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46634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IP, the talent, and the industry will be built — the only question is WHERE. In India, or for someone else?</a:t>
            </a:r>
            <a:endParaRPr lang="en-US" sz="1100" dirty="0"/>
          </a:p>
        </p:txBody>
      </p:sp>
      <p:pic>
        <p:nvPicPr>
          <p:cNvPr id="26" name="Picture 25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96BE2268-B221-A69F-C4D0-980FC94F9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754" y="142650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INACTION: NATIONAL LOSS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repeats: India imports what it could have invented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1E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INDIA ALREADY LOST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Semiconductors: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in USA → India now imports ₹5L Cr/yr in chips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Li-ion Batteries: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in Japan → India imports 80% of EV batteries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Solar Cells: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dominates 80% → India assembles, doesn't manufacture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Display Tech: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Korea/Japan own LCD/OLED → India imports every screen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1E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INDIA WILL LOSE NEXT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50-100 GW: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building-integrated solar capacity — gone to EU/US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₹10,000+ Cr: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BIPV industry — built abroad instead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10,000+ jobs: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transparent solar manufacturing — created elsewhere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Energy sovereignty: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will BUY transparent solar windows from China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98954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₹5L Cr+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58276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India pays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tech yearly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83280" y="4275953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ratio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08284" y="4233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LSC patents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companies today</a:t>
            </a:r>
            <a:endParaRPr lang="en-US" sz="850" dirty="0"/>
          </a:p>
        </p:txBody>
      </p:sp>
      <p:pic>
        <p:nvPicPr>
          <p:cNvPr id="26" name="Picture 25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2288F6CA-440D-E1EC-22B0-6C6A4009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037" y="100584"/>
            <a:ext cx="590972" cy="6290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 IS SIMPLE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</a:t>
            </a:r>
            <a:r>
              <a:rPr lang="en-US" sz="13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LUMIRIS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 — and India gains a new ₹10,000 Cr industry,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GW of clean energy, and global leadership in UV transparent solar.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let us walk to the USA — and India adds another technology to the import bill.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REEARTHTECH INNOVATIONS PVT. LTD. |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founder@reearthtech.in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reearthtech.in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pic>
        <p:nvPicPr>
          <p:cNvPr id="11" name="Picture 10" descr="A logo with green and black text&#10;&#10;AI-generated content may be incorrect.">
            <a:extLst>
              <a:ext uri="{FF2B5EF4-FFF2-40B4-BE49-F238E27FC236}">
                <a16:creationId xmlns:a16="http://schemas.microsoft.com/office/drawing/2014/main" id="{652A9E39-B349-7005-A39A-38F82EAA8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8775" y="466344"/>
            <a:ext cx="1406449" cy="14971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1417</Words>
  <Application>Microsoft Macintosh PowerPoint</Application>
  <PresentationFormat>On-screen Show (16:9)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Lumiris UV Solar Window — Mentor Presentation</dc:title>
  <dc:subject>PptxGenJS Presentation</dc:subject>
  <dc:creator>Lumiris Solar Technologies</dc:creator>
  <cp:lastModifiedBy>a32448</cp:lastModifiedBy>
  <cp:revision>3</cp:revision>
  <dcterms:created xsi:type="dcterms:W3CDTF">2026-03-02T18:50:57Z</dcterms:created>
  <dcterms:modified xsi:type="dcterms:W3CDTF">2026-03-03T17:17:41Z</dcterms:modified>
</cp:coreProperties>
</file>